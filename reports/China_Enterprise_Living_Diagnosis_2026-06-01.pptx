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E2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</a:rPr>
              <a:t>中国企业生存与民众生活境况体检报告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</a:rPr>
              <a:t>为珍爱网下一步战略路径选择提供宏观参照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5394960"/>
            <a:ext cx="1069848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44068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📅 报告日期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0644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>
                <a:solidFill>
                  <a:srgbClr val="C0392B"/>
                </a:solidFill>
                <a:latin typeface="Microsoft YaHei"/>
                <a:eastAsia typeface="Microsoft YaHei"/>
                <a:cs typeface="Microsoft YaHei"/>
              </a:rPr>
              <a:t>2026-06-01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544068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🧑‍💼 编制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580644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>
                <a:solidFill>
                  <a:srgbClr val="C0392B"/>
                </a:solidFill>
                <a:latin typeface="Microsoft YaHei"/>
                <a:eastAsia typeface="Microsoft YaHei"/>
                <a:cs typeface="Microsoft YaHei"/>
              </a:rPr>
              <a:t>智慧助理 Linh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544068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👤 呈 / 抄送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580644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>
                <a:solidFill>
                  <a:srgbClr val="C0392B"/>
                </a:solidFill>
                <a:latin typeface="Microsoft YaHei"/>
                <a:eastAsia typeface="Microsoft YaHei"/>
                <a:cs typeface="Microsoft YaHei"/>
              </a:rPr>
              <a:t>赵总  /  田小英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20040"/>
            <a:ext cx="640080" cy="6400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</a:rPr>
              <a:t>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65760"/>
            <a:ext cx="1005840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400" b="1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执行摘要 · 一页看完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33271"/>
            <a:ext cx="11430000" cy="20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411480" cy="77724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411480" cy="7772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234440"/>
            <a:ext cx="1078992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F39C12"/>
                </a:solidFill>
                <a:latin typeface="Microsoft YaHei"/>
                <a:eastAsia typeface="Microsoft YaHei"/>
                <a:cs typeface="Microsoft YaHei"/>
              </a:rPr>
              <a:t>大盘 · 温和扩张但暗流涌动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527048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制造业PMI 50.3%、规上工业利润+18.2%看上去稳，但服务业PMI跌破荣枯线（49.4%）、长江商学院BCI仅46.9，反映「政府投资型行业向好、民营消费型行业承压」的鲜明分化。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03120"/>
            <a:ext cx="411480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103120"/>
            <a:ext cx="411480" cy="7772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103120"/>
            <a:ext cx="1078992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C0392B"/>
                </a:solidFill>
                <a:latin typeface="Microsoft YaHei"/>
                <a:eastAsia typeface="Microsoft YaHei"/>
                <a:cs typeface="Microsoft YaHei"/>
              </a:rPr>
              <a:t>居民 · 捂紧钱包+主动去杠杆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395728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Q1住户存款新增7.68万亿，但消费贷净减1,640亿。「赚得多花得少」，大额非必需消费（高客单婚恋）首当其冲。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971800"/>
            <a:ext cx="411480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971800"/>
            <a:ext cx="411480" cy="7772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971800"/>
            <a:ext cx="1078992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C0392B"/>
                </a:solidFill>
                <a:latin typeface="Microsoft YaHei"/>
                <a:eastAsia typeface="Microsoft YaHei"/>
                <a:cs typeface="Microsoft YaHei"/>
              </a:rPr>
              <a:t>就业 · 青年群体仍是重灾区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264408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16-24岁失业率16.3%（高于上年同期15.8%），25-29岁7.4%，正是珍爱网核心客群，是高客单转化阻力的根本原因。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840480"/>
            <a:ext cx="411480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840480"/>
            <a:ext cx="411480" cy="7772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840480"/>
            <a:ext cx="1078992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C0392B"/>
                </a:solidFill>
                <a:latin typeface="Microsoft YaHei"/>
                <a:eastAsia typeface="Microsoft YaHei"/>
                <a:cs typeface="Microsoft YaHei"/>
              </a:rPr>
              <a:t>婚恋赛道 · 2025反弹是脉冲，2026继续下行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133088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2025年676.3万对（+10.76%）是新《婚姻登记条例》刺激+疫情积压释放，2026 Q1立即回落-6.24%创新低。结构性下行不可逆。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709160"/>
            <a:ext cx="411480" cy="777240"/>
          </a:xfrm>
          <a:prstGeom prst="rect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709160"/>
            <a:ext cx="411480" cy="7772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1078992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00C853"/>
                </a:solidFill>
                <a:latin typeface="Microsoft YaHei"/>
                <a:eastAsia typeface="Microsoft YaHei"/>
                <a:cs typeface="Microsoft YaHei"/>
              </a:rPr>
              <a:t>结构性机会 · 二婚客群池在扩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5001768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2025协议离婚274.3万对（+12.2万），叠加诉讼离婚约90万，是高净值、高决策力、低投诉风险的优质客群。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577840"/>
            <a:ext cx="411480" cy="777240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577840"/>
            <a:ext cx="411480" cy="7772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5577840"/>
            <a:ext cx="1078992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1E8449"/>
                </a:solidFill>
                <a:latin typeface="Microsoft YaHei"/>
                <a:eastAsia typeface="Microsoft YaHei"/>
                <a:cs typeface="Microsoft YaHei"/>
              </a:rPr>
              <a:t>战略结论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5870448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从「广撒网拉新」切换到「存量深耕+客群分层」，下一步首推路径A（公海盘活+中腰部补强），零额外预算、3个月见效。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智慧助理 Linh · 报告日期 2026-06-01 · 数据来源：国家统计局/民政部/央行/市场监管总局/财新/长江商学院BCI/无破数据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565392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1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20040"/>
            <a:ext cx="640080" cy="6400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</a:rPr>
              <a:t>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65760"/>
            <a:ext cx="1005840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400" b="1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企业生存境况 · 8 项核心指标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33271"/>
            <a:ext cx="11430000" cy="20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2741599" cy="2592324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2741599" cy="457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" y="1298448"/>
            <a:ext cx="2503855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制造业 PMI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1572768"/>
            <a:ext cx="2503855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200" b="1">
                <a:solidFill>
                  <a:srgbClr val="F39C12"/>
                </a:solidFill>
                <a:latin typeface="Microsoft YaHei"/>
                <a:eastAsia typeface="Microsoft YaHei"/>
                <a:cs typeface="Microsoft YaHei"/>
              </a:rPr>
              <a:t>50.3%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2075688"/>
            <a:ext cx="2503855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+0.3 vs 荣枯线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2304288"/>
            <a:ext cx="2503855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↘ -0.1pp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2560320"/>
            <a:ext cx="2503855" cy="717805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勉强位于扩张区间，但已连续两月小幅下行，景气脆弱。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3369564"/>
            <a:ext cx="2503855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📎 国家统计局 2026年4月《中国采购经理指数运行情况》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71951" y="1188720"/>
            <a:ext cx="2741599" cy="2592324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71951" y="1188720"/>
            <a:ext cx="2741599" cy="45720"/>
          </a:xfrm>
          <a:prstGeom prst="rect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90823" y="1298448"/>
            <a:ext cx="2503855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财新制造业 PMI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90823" y="1572768"/>
            <a:ext cx="2503855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200" b="1">
                <a:solidFill>
                  <a:srgbClr val="00C853"/>
                </a:solidFill>
                <a:latin typeface="Microsoft YaHei"/>
                <a:eastAsia typeface="Microsoft YaHei"/>
                <a:cs typeface="Microsoft YaHei"/>
              </a:rPr>
              <a:t>52.2%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90823" y="2075688"/>
            <a:ext cx="2503855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+2.2 vs 荣枯线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90823" y="2304288"/>
            <a:ext cx="2503855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↗ +1.4pp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90823" y="2560320"/>
            <a:ext cx="2503855" cy="717805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中小型出口型制造业回暖，与官方PMI形成「冷热分化」。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90823" y="3369564"/>
            <a:ext cx="2503855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📎 财新/标普全球 2026年4月制造业PMI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8142" y="1188720"/>
            <a:ext cx="2741599" cy="2592324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8142" y="1188720"/>
            <a:ext cx="2741599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97014" y="1298448"/>
            <a:ext cx="2503855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非制造业商务活动指数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97014" y="1572768"/>
            <a:ext cx="2503855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200" b="1">
                <a:solidFill>
                  <a:srgbClr val="C0392B"/>
                </a:solidFill>
                <a:latin typeface="Microsoft YaHei"/>
                <a:eastAsia typeface="Microsoft YaHei"/>
                <a:cs typeface="Microsoft YaHei"/>
              </a:rPr>
              <a:t>49.4%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97014" y="2075688"/>
            <a:ext cx="2503855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-0.6 vs 荣枯线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97014" y="2304288"/>
            <a:ext cx="2503855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↘ -0.7pp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97014" y="2560320"/>
            <a:ext cx="2503855" cy="717805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服务业跌破荣枯线 → 批发零售、居民服务收缩，与珍爱网赛道直接相关。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97014" y="3369564"/>
            <a:ext cx="2503855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📎 国家统计局 2026年4月非制造业PMI（服务业49.6, 建筑业48.0）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84333" y="1188720"/>
            <a:ext cx="2741599" cy="2592324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84333" y="1188720"/>
            <a:ext cx="2741599" cy="45720"/>
          </a:xfrm>
          <a:prstGeom prst="rect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03205" y="1298448"/>
            <a:ext cx="2503855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规上工业企业利润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03205" y="1572768"/>
            <a:ext cx="2503855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200" b="1">
                <a:solidFill>
                  <a:srgbClr val="00C853"/>
                </a:solidFill>
                <a:latin typeface="Microsoft YaHei"/>
                <a:eastAsia typeface="Microsoft YaHei"/>
                <a:cs typeface="Microsoft YaHei"/>
              </a:rPr>
              <a:t>+18.2%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03205" y="2075688"/>
            <a:ext cx="2503855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1-4月累计同比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03205" y="2304288"/>
            <a:ext cx="2503855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↗ +2.7pp vs Q1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03205" y="2560320"/>
            <a:ext cx="2503855" cy="717805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营收利润率5.43%，2023年来同期最高，但主要由装备/高技术制造业拉动。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03205" y="3369564"/>
            <a:ext cx="2503855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📎 国家统计局《2026年1-4月规上工业企业利润》(2026-05-27)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3945636"/>
            <a:ext cx="2741599" cy="2592324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65760" y="3945636"/>
            <a:ext cx="2741599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4632" y="4055364"/>
            <a:ext cx="2503855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长江商学院 BCI（民营中小企业信心）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4632" y="4329684"/>
            <a:ext cx="2503855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200" b="1">
                <a:solidFill>
                  <a:srgbClr val="C0392B"/>
                </a:solidFill>
                <a:latin typeface="Microsoft YaHei"/>
                <a:eastAsia typeface="Microsoft YaHei"/>
                <a:cs typeface="Microsoft YaHei"/>
              </a:rPr>
              <a:t>46.9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" y="4832604"/>
            <a:ext cx="2503855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-3.1 vs 荣枯线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4632" y="5061204"/>
            <a:ext cx="2503855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↘ 连续低于50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4632" y="5317236"/>
            <a:ext cx="2503855" cy="717805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销售前瞻47.0、利润前瞻41.x，民营中小企业信心明显不足，与官方PMI背离。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4632" y="6126480"/>
            <a:ext cx="2503855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📎 长江商学院 BCI 2025年8月报告（最新公开期）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71951" y="3945636"/>
            <a:ext cx="2741599" cy="2592324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271951" y="3945636"/>
            <a:ext cx="2741599" cy="45720"/>
          </a:xfrm>
          <a:prstGeom prst="rect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90823" y="4055364"/>
            <a:ext cx="2503855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全国新设经营主体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90823" y="4329684"/>
            <a:ext cx="2503855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200" b="1">
                <a:solidFill>
                  <a:srgbClr val="00C853"/>
                </a:solidFill>
                <a:latin typeface="Microsoft YaHei"/>
                <a:eastAsia typeface="Microsoft YaHei"/>
                <a:cs typeface="Microsoft YaHei"/>
              </a:rPr>
              <a:t>2,574.5万户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90823" y="4832604"/>
            <a:ext cx="2503855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其中新设企业950万户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90823" y="5061204"/>
            <a:ext cx="2503855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90823" y="5317236"/>
            <a:ext cx="2503855" cy="717805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总量仍在扩张，但个体工商户占比63%，反映就业型创业为主而非投资型。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90823" y="6126480"/>
            <a:ext cx="2503855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📎 市场监管总局 2026-02-26 公告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78142" y="3945636"/>
            <a:ext cx="2741599" cy="2592324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178142" y="3945636"/>
            <a:ext cx="2741599" cy="457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97014" y="4055364"/>
            <a:ext cx="2503855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全国新增破产相关案件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97014" y="4329684"/>
            <a:ext cx="2503855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200" b="1">
                <a:solidFill>
                  <a:srgbClr val="F39C12"/>
                </a:solidFill>
                <a:latin typeface="Microsoft YaHei"/>
                <a:eastAsia typeface="Microsoft YaHei"/>
                <a:cs typeface="Microsoft YaHei"/>
              </a:rPr>
              <a:t>84,882件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97014" y="4832604"/>
            <a:ext cx="2503855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涉案企业45,068家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97014" y="5061204"/>
            <a:ext cx="2503855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↘ -18% YoY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97014" y="5317236"/>
            <a:ext cx="2503855" cy="717805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近5年首次回落，「高速扩张期」结束；涉破资产仍达1.76万亿元。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97014" y="6126480"/>
            <a:ext cx="2503855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📎 无破数据《2025年破产重整大数据报告》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084333" y="3945636"/>
            <a:ext cx="2741599" cy="2592324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084333" y="3945636"/>
            <a:ext cx="2741599" cy="457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203205" y="4055364"/>
            <a:ext cx="2503855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规上工业企业资产负债率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203205" y="4329684"/>
            <a:ext cx="2503855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200" b="1">
                <a:solidFill>
                  <a:srgbClr val="F39C12"/>
                </a:solidFill>
                <a:latin typeface="Microsoft YaHei"/>
                <a:eastAsia typeface="Microsoft YaHei"/>
                <a:cs typeface="Microsoft YaHei"/>
              </a:rPr>
              <a:t>58.0%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203205" y="4832604"/>
            <a:ext cx="2503855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+0.2pp YoY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203205" y="5061204"/>
            <a:ext cx="2503855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↗ 缓升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203205" y="5317236"/>
            <a:ext cx="2503855" cy="717805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杠杆率小幅抬升，企业仍依赖债务融资维持运转。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203205" y="6126480"/>
            <a:ext cx="2503855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📎 国家统计局 2026年4月末数据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智慧助理 Linh · 报告日期 2026-06-01 · 数据来源：国家统计局/民政部/央行/市场监管总局/财新/长江商学院BCI/无破数据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789920" y="6565392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2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20040"/>
            <a:ext cx="640080" cy="6400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</a:rPr>
              <a:t>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65760"/>
            <a:ext cx="1005840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400" b="1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民众生活境况 · 收入/消费/就业/储蓄（8项）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33271"/>
            <a:ext cx="11430000" cy="20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2741599" cy="2592324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2741599" cy="457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" y="1298448"/>
            <a:ext cx="2503855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全国居民人均可支配收入（季度）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1572768"/>
            <a:ext cx="2503855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200" b="1">
                <a:solidFill>
                  <a:srgbClr val="F39C12"/>
                </a:solidFill>
                <a:latin typeface="Microsoft YaHei"/>
                <a:eastAsia typeface="Microsoft YaHei"/>
                <a:cs typeface="Microsoft YaHei"/>
              </a:rPr>
              <a:t>12,782 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2075688"/>
            <a:ext cx="2503855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Q1·城镇16,549/农村7,433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2304288"/>
            <a:ext cx="2503855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↗ 名义+4.9% / 实际+4.0%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2560320"/>
            <a:ext cx="2503855" cy="717805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名义增速跑输GDP目标，城镇实际增速仅3.2%，居民「真金白银」承压。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3369564"/>
            <a:ext cx="2503855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📎 国家统计局《2026年一季度居民收入和消费支出情况》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71951" y="1188720"/>
            <a:ext cx="2741599" cy="2592324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71951" y="1188720"/>
            <a:ext cx="2741599" cy="457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90823" y="1298448"/>
            <a:ext cx="2503855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全国居民人均消费支出（季度）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90823" y="1572768"/>
            <a:ext cx="2503855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200" b="1">
                <a:solidFill>
                  <a:srgbClr val="F39C12"/>
                </a:solidFill>
                <a:latin typeface="Microsoft YaHei"/>
                <a:eastAsia typeface="Microsoft YaHei"/>
                <a:cs typeface="Microsoft YaHei"/>
              </a:rPr>
              <a:t>7,955 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90823" y="2075688"/>
            <a:ext cx="2503855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Q1·消费率 62.2%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90823" y="2304288"/>
            <a:ext cx="2503855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↗ 名义+3.6% / 实际+2.6%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90823" y="2560320"/>
            <a:ext cx="2503855" cy="717805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消费增速持续低于收入增速，「赚得多花得少」，预防性储蓄意愿偏强。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90823" y="3369564"/>
            <a:ext cx="2503855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📎 国家统计局 同上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8142" y="1188720"/>
            <a:ext cx="2741599" cy="2592324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8142" y="1188720"/>
            <a:ext cx="2741599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97014" y="1298448"/>
            <a:ext cx="2503855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16-24岁城镇调查失业率（不含在校生）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97014" y="1572768"/>
            <a:ext cx="2503855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200" b="1">
                <a:solidFill>
                  <a:srgbClr val="C0392B"/>
                </a:solidFill>
                <a:latin typeface="Microsoft YaHei"/>
                <a:eastAsia typeface="Microsoft YaHei"/>
                <a:cs typeface="Microsoft YaHei"/>
              </a:rPr>
              <a:t>16.3%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97014" y="2075688"/>
            <a:ext cx="2503855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+0.5pp YoY (上年同期15.8%)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97014" y="2304288"/>
            <a:ext cx="2503855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↘ -0.6pp MoM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97014" y="2560320"/>
            <a:ext cx="2503855" cy="717805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环比改善但同比仍恶化，婚恋核心客群（年轻女性）支付能力受压。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97014" y="3369564"/>
            <a:ext cx="2503855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📎 国家统计局 2026年4月分年龄组失业率（5月20日公布）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84333" y="1188720"/>
            <a:ext cx="2741599" cy="2592324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84333" y="1188720"/>
            <a:ext cx="2741599" cy="457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03205" y="1298448"/>
            <a:ext cx="2503855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25-29岁失业率（婚恋黄金客群）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03205" y="1572768"/>
            <a:ext cx="2503855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200" b="1">
                <a:solidFill>
                  <a:srgbClr val="F39C12"/>
                </a:solidFill>
                <a:latin typeface="Microsoft YaHei"/>
                <a:eastAsia typeface="Microsoft YaHei"/>
                <a:cs typeface="Microsoft YaHei"/>
              </a:rPr>
              <a:t>7.4%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03205" y="2075688"/>
            <a:ext cx="2503855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30-59岁仅4.2%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03205" y="2304288"/>
            <a:ext cx="2503855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↘ -0.3pp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03205" y="2560320"/>
            <a:ext cx="2503855" cy="717805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毕业3-5年人群失业率仍是壮年组1.76倍，是高客单转化的主要阻力。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03205" y="3369564"/>
            <a:ext cx="2503855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📎 国家统计局 同上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3945636"/>
            <a:ext cx="2741599" cy="2592324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65760" y="3945636"/>
            <a:ext cx="2741599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4632" y="4055364"/>
            <a:ext cx="2503855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Q1 住户存款新增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4632" y="4329684"/>
            <a:ext cx="2503855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200" b="1">
                <a:solidFill>
                  <a:srgbClr val="C0392B"/>
                </a:solidFill>
                <a:latin typeface="Microsoft YaHei"/>
                <a:eastAsia typeface="Microsoft YaHei"/>
                <a:cs typeface="Microsoft YaHei"/>
              </a:rPr>
              <a:t>+7.68万亿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" y="4832604"/>
            <a:ext cx="2503855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占全部新增存款56%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4632" y="5061204"/>
            <a:ext cx="2503855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↗ 持续高位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4632" y="5317236"/>
            <a:ext cx="2503855" cy="717805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「一边囤现金一边还债」：短贷-1640亿（消费贷收缩），中长贷+4607亿（房贷低增）。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4632" y="6126480"/>
            <a:ext cx="2503855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📎 央行《2026年一季度金融统计数据报告》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71951" y="3945636"/>
            <a:ext cx="2741599" cy="2592324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271951" y="3945636"/>
            <a:ext cx="2741599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90823" y="4055364"/>
            <a:ext cx="2503855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住户短期贷款（消费贷）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90823" y="4329684"/>
            <a:ext cx="2503855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200" b="1">
                <a:solidFill>
                  <a:srgbClr val="C0392B"/>
                </a:solidFill>
                <a:latin typeface="Microsoft YaHei"/>
                <a:eastAsia typeface="Microsoft YaHei"/>
                <a:cs typeface="Microsoft YaHei"/>
              </a:rPr>
              <a:t>-1,640亿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90823" y="4832604"/>
            <a:ext cx="2503855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Q1 净减少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90823" y="5061204"/>
            <a:ext cx="2503855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↘ 主动收缩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90823" y="5317236"/>
            <a:ext cx="2503855" cy="717805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关键预警：消费贷净减少 = 大额消费意愿下降 = 高客单价产品成交困难。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90823" y="6126480"/>
            <a:ext cx="2503855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📎 央行 同上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78142" y="3945636"/>
            <a:ext cx="2741599" cy="2592324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178142" y="3945636"/>
            <a:ext cx="2741599" cy="45720"/>
          </a:xfrm>
          <a:prstGeom prst="rect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97014" y="4055364"/>
            <a:ext cx="2503855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2025年全国结婚登记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97014" y="4329684"/>
            <a:ext cx="2503855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200" b="1">
                <a:solidFill>
                  <a:srgbClr val="00C853"/>
                </a:solidFill>
                <a:latin typeface="Microsoft YaHei"/>
                <a:eastAsia typeface="Microsoft YaHei"/>
                <a:cs typeface="Microsoft YaHei"/>
              </a:rPr>
              <a:t>676.3万对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97014" y="4832604"/>
            <a:ext cx="2503855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比2024年+65.7万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97014" y="5061204"/>
            <a:ext cx="2503855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↗ +10.76% YoY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97014" y="5317236"/>
            <a:ext cx="2503855" cy="717805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止跌反弹，与新《婚姻登记条例》5月施行+疫情期间积压释放有关，但总量仍处历史低位。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97014" y="6126480"/>
            <a:ext cx="2503855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📎 民政部《2025年4季度民政统计数据》(2026-02-11)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084333" y="3945636"/>
            <a:ext cx="2741599" cy="2592324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084333" y="3945636"/>
            <a:ext cx="2741599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203205" y="4055364"/>
            <a:ext cx="2503855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2026 Q1 结婚登记（最新）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203205" y="4329684"/>
            <a:ext cx="2503855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200" b="1">
                <a:solidFill>
                  <a:srgbClr val="C0392B"/>
                </a:solidFill>
                <a:latin typeface="Microsoft YaHei"/>
                <a:eastAsia typeface="Microsoft YaHei"/>
                <a:cs typeface="Microsoft YaHei"/>
              </a:rPr>
              <a:t>169.7万对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203205" y="4832604"/>
            <a:ext cx="2503855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近4年Q1：215→197→181→170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203205" y="5061204"/>
            <a:ext cx="2503855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↘ -6.24% YoY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203205" y="5317236"/>
            <a:ext cx="2503855" cy="717805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2025年反弹是脉冲式，2026年Q1再创历史新低，婚恋赛道天花板继续收缩。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203205" y="6126480"/>
            <a:ext cx="2503855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📎 民政部《2026年1季度民政统计数据》(2026-05-09)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智慧助理 Linh · 报告日期 2026-06-01 · 数据来源：国家统计局/民政部/央行/市场监管总局/财新/长江商学院BCI/无破数据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789920" y="6565392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3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20040"/>
            <a:ext cx="640080" cy="6400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</a:rPr>
              <a:t>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65760"/>
            <a:ext cx="1005840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400" b="1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民众生活境况 · 婚恋人口（3项）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33271"/>
            <a:ext cx="11430000" cy="20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3710330" cy="534924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3710330" cy="457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" y="1298448"/>
            <a:ext cx="3472586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2025年全国离婚登记（仅协议）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1572768"/>
            <a:ext cx="3472586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200" b="1">
                <a:solidFill>
                  <a:srgbClr val="F39C12"/>
                </a:solidFill>
                <a:latin typeface="Microsoft YaHei"/>
                <a:eastAsia typeface="Microsoft YaHei"/>
                <a:cs typeface="Microsoft YaHei"/>
              </a:rPr>
              <a:t>274.3万对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2075688"/>
            <a:ext cx="3472586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比2024年+12.2万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2304288"/>
            <a:ext cx="3472586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↗ +4.7%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2560320"/>
            <a:ext cx="3472586" cy="3474721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二婚客群池稳步扩大，对珍爱网中高端服务是结构性机会。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6126480"/>
            <a:ext cx="3472586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📎 民政部 同上 (不含诉讼离婚约90万对)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40682" y="1188720"/>
            <a:ext cx="3710330" cy="534924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40682" y="1188720"/>
            <a:ext cx="3710330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59554" y="1298448"/>
            <a:ext cx="3472586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2025年全国出生人口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9554" y="1572768"/>
            <a:ext cx="3472586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200" b="1">
                <a:solidFill>
                  <a:srgbClr val="C0392B"/>
                </a:solidFill>
                <a:latin typeface="Microsoft YaHei"/>
                <a:eastAsia typeface="Microsoft YaHei"/>
                <a:cs typeface="Microsoft YaHei"/>
              </a:rPr>
              <a:t>792万人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59554" y="2075688"/>
            <a:ext cx="3472586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出生率5.63‰，自然增长率-2.41‰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59554" y="2304288"/>
            <a:ext cx="3472586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↘ -162万 YoY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59554" y="2560320"/>
            <a:ext cx="3472586" cy="3474721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历史新低，远期适婚人口断层不可逆，决定了行业必须由「拉新」转向「深耕存量」。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9554" y="6126480"/>
            <a:ext cx="3472586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📎 国家统计局 2026-01-19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15604" y="1188720"/>
            <a:ext cx="3710330" cy="534924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15604" y="1188720"/>
            <a:ext cx="3710330" cy="457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34476" y="1298448"/>
            <a:ext cx="3472586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平均初婚年龄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34476" y="1572768"/>
            <a:ext cx="3472586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200" b="1">
                <a:solidFill>
                  <a:srgbClr val="F39C12"/>
                </a:solidFill>
                <a:latin typeface="Microsoft YaHei"/>
                <a:eastAsia typeface="Microsoft YaHei"/>
                <a:cs typeface="Microsoft YaHei"/>
              </a:rPr>
              <a:t>男29.4 / 女28.0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34476" y="2075688"/>
            <a:ext cx="3472586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一线城市突破32岁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34476" y="2304288"/>
            <a:ext cx="3472586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↗ 持续推迟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34476" y="2560320"/>
            <a:ext cx="3472586" cy="3474721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晚婚化 → 客户决策更理性、退费风险更高、对「速签」模式不利。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34476" y="6126480"/>
            <a:ext cx="3472586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📎 公开人口学研究综合（民政部+学界估算）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智慧助理 Linh · 报告日期 2026-06-01 · 数据来源：国家统计局/民政部/央行/市场监管总局/财新/长江商学院BCI/无破数据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565392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4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20040"/>
            <a:ext cx="640080" cy="6400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</a:rPr>
              <a:t>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65760"/>
            <a:ext cx="1005840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400" b="1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宏观 → 珍爱网传导映射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33271"/>
            <a:ext cx="11430000" cy="20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78992"/>
            <a:ext cx="114300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把上面的国家数据，翻译成对珍爱网经营的具体影响。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11704320" cy="41148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417320"/>
            <a:ext cx="82296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</a:rPr>
              <a:t>权重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41732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</a:rPr>
              <a:t>宏观信号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41732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</a:rPr>
              <a:t>传导路径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141732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</a:rPr>
              <a:t>对珍爱网的具体影响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828800"/>
            <a:ext cx="11704320" cy="594360"/>
          </a:xfrm>
          <a:prstGeom prst="rect">
            <a:avLst/>
          </a:prstGeom>
          <a:solidFill>
            <a:srgbClr val="FFFFFF"/>
          </a:solidFill>
          <a:ln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828800"/>
            <a:ext cx="82296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C0392B"/>
                </a:solidFill>
                <a:latin typeface="Microsoft YaHei"/>
                <a:eastAsia typeface="Microsoft YaHei"/>
                <a:cs typeface="Microsoft YaHei"/>
              </a:rPr>
              <a:t>★★★★★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1828800"/>
            <a:ext cx="320040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16-24岁失业率16.3%（同比+0.5pp），25-29岁7.4%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1828800"/>
            <a:ext cx="274320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婚恋核心客群「钱包变薄」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1828800"/>
            <a:ext cx="493776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B71C1C"/>
                </a:solidFill>
                <a:latin typeface="Microsoft YaHei"/>
                <a:eastAsia typeface="Microsoft YaHei"/>
                <a:cs typeface="Microsoft YaHei"/>
              </a:rPr>
              <a:t>高客单价（万元级红娘服务、门店签单）转化阻力↑；电销退费率风险↑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423160"/>
            <a:ext cx="11704320" cy="594360"/>
          </a:xfrm>
          <a:prstGeom prst="rect">
            <a:avLst/>
          </a:prstGeom>
          <a:solidFill>
            <a:srgbClr val="FAFBFC"/>
          </a:solidFill>
          <a:ln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423160"/>
            <a:ext cx="82296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C0392B"/>
                </a:solidFill>
                <a:latin typeface="Microsoft YaHei"/>
                <a:eastAsia typeface="Microsoft YaHei"/>
                <a:cs typeface="Microsoft YaHei"/>
              </a:rPr>
              <a:t>★★★★★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2423160"/>
            <a:ext cx="320040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Q1住户消费贷净减1,640亿（主动去杠杆）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2423160"/>
            <a:ext cx="274320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大额非必需消费意愿↓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2423160"/>
            <a:ext cx="493776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B71C1C"/>
                </a:solidFill>
                <a:latin typeface="Microsoft YaHei"/>
                <a:eastAsia typeface="Microsoft YaHei"/>
                <a:cs typeface="Microsoft YaHei"/>
              </a:rPr>
              <a:t>门店、红娘高客单产品「分期+逼签」模式难以为继；珍心会员低客单订阅可能受益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017520"/>
            <a:ext cx="11704320" cy="594360"/>
          </a:xfrm>
          <a:prstGeom prst="rect">
            <a:avLst/>
          </a:prstGeom>
          <a:solidFill>
            <a:srgbClr val="FFFFFF"/>
          </a:solidFill>
          <a:ln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3017520"/>
            <a:ext cx="82296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C0392B"/>
                </a:solidFill>
                <a:latin typeface="Microsoft YaHei"/>
                <a:eastAsia typeface="Microsoft YaHei"/>
                <a:cs typeface="Microsoft YaHei"/>
              </a:rPr>
              <a:t>★★★★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3017520"/>
            <a:ext cx="320040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服务业PMI 49.4%（跌破荣枯线，居民服务收缩）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3017520"/>
            <a:ext cx="274320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整个生活服务业景气走弱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3017520"/>
            <a:ext cx="493776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B71C1C"/>
                </a:solidFill>
                <a:latin typeface="Microsoft YaHei"/>
                <a:eastAsia typeface="Microsoft YaHei"/>
                <a:cs typeface="Microsoft YaHei"/>
              </a:rPr>
              <a:t>同行（百合、世纪佳缘等）大概率同步承压 → 是「相对位次提升」的窗口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611880"/>
            <a:ext cx="11704320" cy="594360"/>
          </a:xfrm>
          <a:prstGeom prst="rect">
            <a:avLst/>
          </a:prstGeom>
          <a:solidFill>
            <a:srgbClr val="FAFBFC"/>
          </a:solidFill>
          <a:ln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3611880"/>
            <a:ext cx="82296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C0392B"/>
                </a:solidFill>
                <a:latin typeface="Microsoft YaHei"/>
                <a:eastAsia typeface="Microsoft YaHei"/>
                <a:cs typeface="Microsoft YaHei"/>
              </a:rPr>
              <a:t>★★★★★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3611880"/>
            <a:ext cx="320040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2026 Q1结婚登记 -6.24% 创新低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3611880"/>
            <a:ext cx="274320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市场天花板继续下移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3611880"/>
            <a:ext cx="493776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B71C1C"/>
                </a:solidFill>
                <a:latin typeface="Microsoft YaHei"/>
                <a:eastAsia typeface="Microsoft YaHei"/>
                <a:cs typeface="Microsoft YaHei"/>
              </a:rPr>
              <a:t>靠新增意愿拉动的「广撒网拉新」模型衰减；存量盘活+二婚市场结构性重要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206240"/>
            <a:ext cx="11704320" cy="594360"/>
          </a:xfrm>
          <a:prstGeom prst="rect">
            <a:avLst/>
          </a:prstGeom>
          <a:solidFill>
            <a:srgbClr val="FFFFFF"/>
          </a:solidFill>
          <a:ln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4206240"/>
            <a:ext cx="82296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C0392B"/>
                </a:solidFill>
                <a:latin typeface="Microsoft YaHei"/>
                <a:eastAsia typeface="Microsoft YaHei"/>
                <a:cs typeface="Microsoft YaHei"/>
              </a:rPr>
              <a:t>★★★★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720" y="4206240"/>
            <a:ext cx="320040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2025年离婚274.3万对 +4.7%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0" y="4206240"/>
            <a:ext cx="274320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二婚客群池扩大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4206240"/>
            <a:ext cx="493776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B71C1C"/>
                </a:solidFill>
                <a:latin typeface="Microsoft YaHei"/>
                <a:eastAsia typeface="Microsoft YaHei"/>
                <a:cs typeface="Microsoft YaHei"/>
              </a:rPr>
              <a:t>二婚客单价高、付费意愿强、决策周期短 → 红娘+APP定向产品的明确机会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4800600"/>
            <a:ext cx="11704320" cy="594360"/>
          </a:xfrm>
          <a:prstGeom prst="rect">
            <a:avLst/>
          </a:prstGeom>
          <a:solidFill>
            <a:srgbClr val="FAFBFC"/>
          </a:solidFill>
          <a:ln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4800600"/>
            <a:ext cx="82296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C0392B"/>
                </a:solidFill>
                <a:latin typeface="Microsoft YaHei"/>
                <a:eastAsia typeface="Microsoft YaHei"/>
                <a:cs typeface="Microsoft YaHei"/>
              </a:rPr>
              <a:t>★★★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88720" y="4800600"/>
            <a:ext cx="320040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BCI民营中小企业信心46.9（荣枯线下）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89120" y="4800600"/>
            <a:ext cx="274320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中小老板群体焦虑↑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0" y="4800600"/>
            <a:ext cx="493776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B71C1C"/>
                </a:solidFill>
                <a:latin typeface="Microsoft YaHei"/>
                <a:eastAsia typeface="Microsoft YaHei"/>
                <a:cs typeface="Microsoft YaHei"/>
              </a:rPr>
              <a:t>门店外包合作伙伴现金流压力↑ → 加盟商稳定性需重点风控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5394960"/>
            <a:ext cx="11704320" cy="594360"/>
          </a:xfrm>
          <a:prstGeom prst="rect">
            <a:avLst/>
          </a:prstGeom>
          <a:solidFill>
            <a:srgbClr val="FFFFFF"/>
          </a:solidFill>
          <a:ln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5394960"/>
            <a:ext cx="82296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C0392B"/>
                </a:solidFill>
                <a:latin typeface="Microsoft YaHei"/>
                <a:eastAsia typeface="Microsoft YaHei"/>
                <a:cs typeface="Microsoft YaHei"/>
              </a:rPr>
              <a:t>★★★★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88720" y="5394960"/>
            <a:ext cx="320040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出生人口792万创新低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89120" y="5394960"/>
            <a:ext cx="274320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10-20年远期天花板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32320" y="5394960"/>
            <a:ext cx="493776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B71C1C"/>
                </a:solidFill>
                <a:latin typeface="Microsoft YaHei"/>
                <a:eastAsia typeface="Microsoft YaHei"/>
                <a:cs typeface="Microsoft YaHei"/>
              </a:rPr>
              <a:t>战略上必须从「人口红利」彻底切换到「人均价值红利」（LTV运营）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5989320"/>
            <a:ext cx="11704320" cy="594360"/>
          </a:xfrm>
          <a:prstGeom prst="rect">
            <a:avLst/>
          </a:prstGeom>
          <a:solidFill>
            <a:srgbClr val="FAFBFC"/>
          </a:solidFill>
          <a:ln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" y="5989320"/>
            <a:ext cx="82296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C0392B"/>
                </a:solidFill>
                <a:latin typeface="Microsoft YaHei"/>
                <a:eastAsia typeface="Microsoft YaHei"/>
                <a:cs typeface="Microsoft YaHei"/>
              </a:rPr>
              <a:t>★★★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88720" y="5989320"/>
            <a:ext cx="320040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1-4月规上工业利润+18.2%（结构性向好）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89120" y="5989320"/>
            <a:ext cx="274320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高技术/装备制造业从业者收入↑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32320" y="5989320"/>
            <a:ext cx="493776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B71C1C"/>
                </a:solidFill>
                <a:latin typeface="Microsoft YaHei"/>
                <a:eastAsia typeface="Microsoft YaHei"/>
                <a:cs typeface="Microsoft YaHei"/>
              </a:rPr>
              <a:t>新一线产业带（合肥/苏州/成都/西安等）高净值男性客群是值得加码的地理位置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智慧助理 Linh · 报告日期 2026-06-01 · 数据来源：国家统计局/民政部/央行/市场监管总局/财新/长江商学院BCI/无破数据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789920" y="6565392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5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20040"/>
            <a:ext cx="640080" cy="640080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65760"/>
            <a:ext cx="1005840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200" b="1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四 · 战略路径 A · 存量深耕（推荐⭐⭐⭐⭐⭐）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33271"/>
            <a:ext cx="11430000" cy="20000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11430000" cy="640080"/>
          </a:xfrm>
          <a:prstGeom prst="rect">
            <a:avLst/>
          </a:prstGeom>
          <a:solidFill>
            <a:srgbClr val="E8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54864" cy="640080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📌 核心主张：承认拉新天花板已经下移，把战略重心从「漏斗最上方」转移到「漏斗中段-后段」。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01168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🔍 推演逻辑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331720"/>
            <a:ext cx="6858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1. 宏观依据：结婚登记Q1再创新低-6.24%、出生792万创新低、消费贷主动收缩；新增「想结婚的人」在刚性减少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2. 经营依据：公海沉淀85,000条沉睡资源、捞取转化率仅1.5%、TOP20%占比65%（中腰部产能闲置）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3. 战略动作：① 公海AI洗单+张心蕊团队捞取专项；② 中腰部话术通关补足产能；③ 离婚客群（二婚274万对+12.2万）做精准产品矩阵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201168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1E8449"/>
                </a:solidFill>
                <a:latin typeface="Microsoft YaHei"/>
                <a:eastAsia typeface="Microsoft YaHei"/>
                <a:cs typeface="Microsoft YaHei"/>
              </a:rPr>
              <a:t>✅ 红线一致性自检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331720"/>
            <a:ext cx="4434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✅ 弱依赖：业务端可独立推动，技术端只需配合公海AI拨测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✅ 不鞭打快牛：盘活的是中腰部+沉默存量，不加压头部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✅ 现金流友好：边际投入低（不需要新购线索），ROI 立竿见影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✅ 无门店扩张/逼签风险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5760720"/>
            <a:ext cx="11430000" cy="594360"/>
          </a:xfrm>
          <a:prstGeom prst="rect">
            <a:avLst/>
          </a:prstGeom>
          <a:solidFill>
            <a:srgbClr val="FFF8E1"/>
          </a:solidFill>
          <a:ln>
            <a:solidFill>
              <a:srgbClr val="F39C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760720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💰 预估收益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5760720"/>
            <a:ext cx="585216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C0392B"/>
                </a:solidFill>
                <a:latin typeface="Microsoft YaHei"/>
                <a:eastAsia typeface="Microsoft YaHei"/>
                <a:cs typeface="Microsoft YaHei"/>
              </a:rPr>
              <a:t>3个月内电销+建信+红娘合并增收 ¥150-300万/月，无需大额预算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5760720"/>
            <a:ext cx="137160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⚠️ 风险等级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5760720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C0392B"/>
                </a:solidFill>
                <a:latin typeface="Microsoft YaHei"/>
                <a:eastAsia typeface="Microsoft YaHei"/>
                <a:cs typeface="Microsoft YaHei"/>
              </a:rPr>
              <a:t>低。最大风险是中腰部话术补强需要15-21天才出效果，需有耐心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智慧助理 Linh · 报告日期 2026-06-01 · 数据来源：国家统计局/民政部/央行/市场监管总局/财新/长江商学院BCI/无破数据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565392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6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20040"/>
            <a:ext cx="640080" cy="64008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</a:rPr>
              <a:t>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65760"/>
            <a:ext cx="1005840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200" b="1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四 · 战略路径 B · 低客单订阅突围（⭐⭐⭐⭐）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33271"/>
            <a:ext cx="11430000" cy="2000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11430000" cy="640080"/>
          </a:xfrm>
          <a:prstGeom prst="rect">
            <a:avLst/>
          </a:prstGeom>
          <a:solidFill>
            <a:srgbClr val="E8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54864" cy="64008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📌 核心主张：顺应「居民去杠杆+消费贷收缩」的大趋势，用低门槛订阅承接高客单价转化失败的客户。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01168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🔍 推演逻辑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331720"/>
            <a:ext cx="6858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1. 宏观依据：消费贷净减1,640亿、人均消费实际增速2.6%（落后收入增速）→ 一次性万元支出阻力大，几十元/月订阅心理门槛低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2. 经营依据：APP珍心会员是现成抓手（DAU驱动现金牛），但产品结构若珍心会员&gt;80%意味着同质化严重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3. 战略动作：① 推「轻量恋爱顾问」月费29-99元产品；② 高客单价漏斗失败客户自动降档承接；③ 黑猫投诉婚恋类舆情同步监测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201168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1E8449"/>
                </a:solidFill>
                <a:latin typeface="Microsoft YaHei"/>
                <a:eastAsia typeface="Microsoft YaHei"/>
                <a:cs typeface="Microsoft YaHei"/>
              </a:rPr>
              <a:t>✅ 红线一致性自检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331720"/>
            <a:ext cx="4434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✅ 风险隔离：低客单价合规风险远低于高客单逼签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✅ 现金流稳定：订阅模式LTV稳定，对赌账户10亿现金线友好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⚠️ 跨部门：需要APP产品+技术配合，约2-3周开发周期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5760720"/>
            <a:ext cx="11430000" cy="594360"/>
          </a:xfrm>
          <a:prstGeom prst="rect">
            <a:avLst/>
          </a:prstGeom>
          <a:solidFill>
            <a:srgbClr val="FFF8E1"/>
          </a:solidFill>
          <a:ln>
            <a:solidFill>
              <a:srgbClr val="F39C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760720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💰 预估收益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5760720"/>
            <a:ext cx="585216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C0392B"/>
                </a:solidFill>
                <a:latin typeface="Microsoft YaHei"/>
                <a:eastAsia typeface="Microsoft YaHei"/>
                <a:cs typeface="Microsoft YaHei"/>
              </a:rPr>
              <a:t>上线6个月内月经常性收入(MRR) ¥80-150万，关键是退费率必须&lt;2%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5760720"/>
            <a:ext cx="137160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⚠️ 风险等级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5760720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C0392B"/>
                </a:solidFill>
                <a:latin typeface="Microsoft YaHei"/>
                <a:eastAsia typeface="Microsoft YaHei"/>
                <a:cs typeface="Microsoft YaHei"/>
              </a:rPr>
              <a:t>中。最大风险是低客单产品稀释品牌高端定位，需要做品牌隔离（独立子品牌）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智慧助理 Linh · 报告日期 2026-06-01 · 数据来源：国家统计局/民政部/央行/市场监管总局/财新/长江商学院BCI/无破数据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565392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7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20040"/>
            <a:ext cx="640080" cy="640080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</a:rPr>
              <a:t>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65760"/>
            <a:ext cx="1005840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200" b="1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四 · 战略路径 C · 二婚高净值精耕（⭐⭐⭐⭐）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33271"/>
            <a:ext cx="11430000" cy="20000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11430000" cy="640080"/>
          </a:xfrm>
          <a:prstGeom prst="rect">
            <a:avLst/>
          </a:prstGeom>
          <a:solidFill>
            <a:srgbClr val="E8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54864" cy="640080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📌 核心主张：把2025年新增12.2万对协议离婚（+诉讼离婚约90万）看作「自然为珍爱网准备的精准客群」。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01168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🔍 推演逻辑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331720"/>
            <a:ext cx="6858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1. 宏观依据：35-45岁离异群体支付能力强、决策周期短、对红娘人工服务需求刚性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2. 经营依据：当前红娘服务无差别对待初婚二婚，没有专属产品矩阵和话术体系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3. 战略动作：① 设立「二度幸福」产品线；② 红娘话术按客群拆分；③ 与离婚律师/调解机构合作做精准引流（合规边界内）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201168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1E8449"/>
                </a:solidFill>
                <a:latin typeface="Microsoft YaHei"/>
                <a:eastAsia typeface="Microsoft YaHei"/>
                <a:cs typeface="Microsoft YaHei"/>
              </a:rPr>
              <a:t>✅ 红线一致性自检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331720"/>
            <a:ext cx="4434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✅ 不鞭打快牛：不增加电销加压，是红娘TOP员工的「礼物级」资源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✅ 风险隔离：二婚客群投诉率历史数据低（决策更理性）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⚠️ 跨部门：需要市场+法务配合做精准引流合规性审核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5760720"/>
            <a:ext cx="11430000" cy="594360"/>
          </a:xfrm>
          <a:prstGeom prst="rect">
            <a:avLst/>
          </a:prstGeom>
          <a:solidFill>
            <a:srgbClr val="FFF8E1"/>
          </a:solidFill>
          <a:ln>
            <a:solidFill>
              <a:srgbClr val="F39C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760720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💰 预估收益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5760720"/>
            <a:ext cx="585216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C0392B"/>
                </a:solidFill>
                <a:latin typeface="Microsoft YaHei"/>
                <a:eastAsia typeface="Microsoft YaHei"/>
                <a:cs typeface="Microsoft YaHei"/>
              </a:rPr>
              <a:t>试点3个月，红娘人均产值+30%，月增收¥80-150万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5760720"/>
            <a:ext cx="137160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⚠️ 风险等级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5760720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C0392B"/>
                </a:solidFill>
                <a:latin typeface="Microsoft YaHei"/>
                <a:eastAsia typeface="Microsoft YaHei"/>
                <a:cs typeface="Microsoft YaHei"/>
              </a:rPr>
              <a:t>中低。注意「二婚」标签的情感敏感度，话术须经话术工程师精修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智慧助理 Linh · 报告日期 2026-06-01 · 数据来源：国家统计局/民政部/央行/市场监管总局/财新/长江商学院BCI/无破数据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565392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8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20040"/>
            <a:ext cx="640080" cy="6400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</a:rPr>
              <a:t>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65760"/>
            <a:ext cx="1005840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400" b="1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虚拟赵总质疑 &amp; 应对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33271"/>
            <a:ext cx="11430000" cy="20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78992"/>
            <a:ext cx="114300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重大方案输出前先自我质疑，逐条回应——保证合理性、可行性、红线一致性。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11430000" cy="1078992"/>
          </a:xfrm>
          <a:prstGeom prst="rect">
            <a:avLst/>
          </a:prstGeom>
          <a:solidFill>
            <a:srgbClr val="F9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17320"/>
            <a:ext cx="54864" cy="107899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90472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C0392B"/>
                </a:solidFill>
                <a:latin typeface="Microsoft YaHei"/>
                <a:eastAsia typeface="Microsoft YaHei"/>
                <a:cs typeface="Microsoft YaHei"/>
              </a:rPr>
              <a:t>❓ 质疑 1：路径A的中腰部产能补强，是否会变相加压一线？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87452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✅ 应对：不会。补强 ≠ 加量，是技能输入（话术通关+录音学习），目标是把「会不会做」从30分提到60分，让现有外呼量产生更高产出。每日训练时长控制在30分钟内（替代现有低效晨会）。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569464"/>
            <a:ext cx="11430000" cy="1078992"/>
          </a:xfrm>
          <a:prstGeom prst="rect">
            <a:avLst/>
          </a:prstGeom>
          <a:solidFill>
            <a:srgbClr val="F9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569464"/>
            <a:ext cx="54864" cy="107899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642616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C0392B"/>
                </a:solidFill>
                <a:latin typeface="Microsoft YaHei"/>
                <a:eastAsia typeface="Microsoft YaHei"/>
                <a:cs typeface="Microsoft YaHei"/>
              </a:rPr>
              <a:t>❓ 质疑 2：路径B低客单订阅，会不会把珍爱网拖入「红海低价竞争」？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026664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✅ 应对：通过子品牌隔离规避。母品牌「珍爱网」继续守住高客单红娘+门店阵地，子品牌承接「价格敏感型潜客」做漏斗反向蓄水。低客单流量池中跑出的高意愿用户再向母品牌输送，形成内循环。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721608"/>
            <a:ext cx="11430000" cy="1078992"/>
          </a:xfrm>
          <a:prstGeom prst="rect">
            <a:avLst/>
          </a:prstGeom>
          <a:solidFill>
            <a:srgbClr val="F9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721608"/>
            <a:ext cx="54864" cy="107899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794760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C0392B"/>
                </a:solidFill>
                <a:latin typeface="Microsoft YaHei"/>
                <a:eastAsia typeface="Microsoft YaHei"/>
                <a:cs typeface="Microsoft YaHei"/>
              </a:rPr>
              <a:t>❓ 质疑 3：三条路径同时启动，是否超出当前组织带宽？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178808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✅ 应对：不必同时启动。建议节奏：T+0立即启动路径A（业务端独立可推），T+30天根据A的反馈决定B或C二选一启动。当前组织疲劳度高，单线程推进是上策。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873752"/>
            <a:ext cx="11430000" cy="1078992"/>
          </a:xfrm>
          <a:prstGeom prst="rect">
            <a:avLst/>
          </a:prstGeom>
          <a:solidFill>
            <a:srgbClr val="F9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4873752"/>
            <a:ext cx="54864" cy="107899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946904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C0392B"/>
                </a:solidFill>
                <a:latin typeface="Microsoft YaHei"/>
                <a:eastAsia typeface="Microsoft YaHei"/>
                <a:cs typeface="Microsoft YaHei"/>
              </a:rPr>
              <a:t>❓ 质疑 4：宏观数据是否真能传导到我们的KPI？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330952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✅ 应对：已建立量化对照建议：T+30天后用本报告的8项指标月度对照珍爱网营收波动，建立「珍爱网营收 vs 行业景气」回归模型，剥离「行业贡献」与「管理贡献」，避免把行业β的下滑误判为自身α的失败。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6035040"/>
            <a:ext cx="11430000" cy="502920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035040"/>
            <a:ext cx="1143000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</a:rPr>
              <a:t>📣 请赵总决断：建议 T+0 立即启动 路径A（存量深耕）；T+30 天根据 A 的成效在 B/C 中二选一加码。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智慧助理 Linh · 报告日期 2026-06-01 · 数据来源：国家统计局/民政部/央行/市场监管总局/财新/长江商学院BCI/无破数据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565392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9 /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20040"/>
            <a:ext cx="640080" cy="6400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  <a:eastAsia typeface="Microsoft YaHei"/>
                <a:cs typeface="Microsoft YaHei"/>
              </a:rPr>
              <a:t>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65760"/>
            <a:ext cx="1005840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400" b="1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数据来源清单 · 下次刷新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33271"/>
            <a:ext cx="11430000" cy="20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54864" cy="548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国家统计局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325880"/>
            <a:ext cx="7955279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PMI / 工业利润 / 城镇调查失业率 / 收入消费 / 出生人口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65960"/>
            <a:ext cx="54864" cy="548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96596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民政部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1965960"/>
            <a:ext cx="7955279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结婚登记 / 离婚登记 / 初婚年龄 / 季度民政统计数据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606040"/>
            <a:ext cx="54864" cy="548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60604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中国人民银行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606040"/>
            <a:ext cx="7955279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住户存款 / 消费贷 / 中长贷 / 一季度金融统计数据报告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246120"/>
            <a:ext cx="54864" cy="548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24612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国家市场监督管理总局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246120"/>
            <a:ext cx="7955279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新设经营主体 / 个体工商户 / 注销退出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886200"/>
            <a:ext cx="54864" cy="548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88620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财新 / 标普全球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3886200"/>
            <a:ext cx="7955279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财新制造业PMI / 服务业PMI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526280"/>
            <a:ext cx="54864" cy="548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52628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长江商学院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4526280"/>
            <a:ext cx="7955279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BCI 民营中小企业经营状况指数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166360"/>
            <a:ext cx="54864" cy="548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16636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无破数据 / 全国企业破产重整案件信息网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5166360"/>
            <a:ext cx="7955279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破产案件总量、涉案企业、涉破资产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943600"/>
            <a:ext cx="11430000" cy="594360"/>
          </a:xfrm>
          <a:prstGeom prst="rect">
            <a:avLst/>
          </a:prstGeom>
          <a:solidFill>
            <a:srgbClr val="FFF8E1"/>
          </a:solidFill>
          <a:ln>
            <a:solidFill>
              <a:srgbClr val="F39C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5943600"/>
            <a:ext cx="1143000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2C3E50"/>
                </a:solidFill>
                <a:latin typeface="Microsoft YaHei"/>
                <a:eastAsia typeface="Microsoft YaHei"/>
                <a:cs typeface="Microsoft YaHei"/>
              </a:rPr>
              <a:t>🔁 下一次自动刷新预定：2026-07-01    |    一键刷新命令：python3 render_china_macro_report.py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智慧助理 Linh · 报告日期 2026-06-01 · 数据来源：国家统计局/民政部/央行/市场监管总局/财新/长江商学院BCI/无破数据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565392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>
                <a:solidFill>
                  <a:srgbClr val="707070"/>
                </a:solidFill>
                <a:latin typeface="Microsoft YaHei"/>
                <a:eastAsia typeface="Microsoft YaHei"/>
                <a:cs typeface="Microsoft YaHe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